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terrassendach/-/blob/6b312705afff78de824478550f34340ac780a7f4/_posts/2026-10-29-unterlagen-nach-der-montage-holzterrassendach.md" TargetMode="External"/><Relationship Id="rId3" Type="http://schemas.openxmlformats.org/officeDocument/2006/relationships/hyperlink" Target="https://holzundhaus.github.io/spreeterrassendach/dateien/minimax-1ab9ee3c3be4727115c7bb8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nach der Montage: Was Bauherren vom Holzterrassendach erwarten sollten · Erklärende Präsentation</a:t>
            </a:r>
          </a:p>
        </p:txBody>
      </p:sp>
      <p:sp>
        <p:nvSpPr>
          <p:cNvPr id="3" name="Content Placeholder 2"/>
          <p:cNvSpPr>
            <a:spLocks noGrp="1"/>
          </p:cNvSpPr>
          <p:nvPr>
            <p:ph idx="1"/>
          </p:nvPr>
        </p:nvSpPr>
        <p:spPr/>
        <p:txBody>
          <a:bodyPr/>
          <a:lstStyle/>
          <a:p>
            <a:r>
              <a:t>Überblick: Nach der Montage einer Holz-Terrassenüberdachung sollte die fachgerechte Übergabe nicht allein aus dem fertigen Aufbau bestehen. Entscheidend ist auch, welche Unterlagen Bauherren erhalten und später jederzeit einsehen können. Eine vollständige Dokumentation schafft die Grundlage für Erhaltung, Umbau, Nutzungsänderungen oder einen möglichen Weiterverkauf. Zugleich hilft sie, Leistungen, Verantwortlichkeiten und technische Entscheidungen transparent zu halten. Sinnvoll ist deshalb, die erwarteten Unterlagen bereits im Angebot oder Vertrag zu benennen und bei der Abnahme gemeinsam zu kontrollieren.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Nachweise auch nach der Montage wichtig bleiben</a:t>
            </a:r>
          </a:p>
        </p:txBody>
      </p:sp>
      <p:sp>
        <p:nvSpPr>
          <p:cNvPr id="3" name="Content Placeholder 2"/>
          <p:cNvSpPr>
            <a:spLocks noGrp="1"/>
          </p:cNvSpPr>
          <p:nvPr>
            <p:ph idx="1"/>
          </p:nvPr>
        </p:nvSpPr>
        <p:spPr/>
        <p:txBody>
          <a:bodyPr/>
          <a:lstStyle/>
          <a:p>
            <a:pPr>
              <a:defRPr sz="1800"/>
            </a:pPr>
            <a:r>
              <a:t>Eine Holz-Terrassenüberdachung ist mit ihren tragenden Elementen, Verbindungen, Stützen und Fundamenten auf das jeweilige Grundstück und die konkrete Nutzung abgestimmt. Nach § 61 BauO Bln kann eine solche Anlage in Berlin je nach Größe verfahrensfrei sein; die Anforderungen an die Standsicherheit nach § 12 BauO Bln gelten dadurch jedoch nicht automatisch als erfüllt. Die vollständige Dokumentation hält fest, welche Bemessung zugrunde lag und welche Bauteile tatsächlich ausgeführt wurden. Das ist besonders hilfreich, wenn später ein Anbau, eine Beleuchtung oder eine andere Nutzung geplant wird. Fehlende Angaben zwingen dann zu Annahmen und zu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Nachweise auch nach der Montage wichtig bleiben</a:t>
            </a:r>
          </a:p>
        </p:txBody>
      </p:sp>
      <p:sp>
        <p:nvSpPr>
          <p:cNvPr id="3" name="Content Placeholder 2"/>
          <p:cNvSpPr>
            <a:spLocks noGrp="1"/>
          </p:cNvSpPr>
          <p:nvPr>
            <p:ph idx="1"/>
          </p:nvPr>
        </p:nvSpPr>
        <p:spPr/>
        <p:txBody>
          <a:bodyPr/>
          <a:lstStyle/>
          <a:p>
            <a:pPr>
              <a:defRPr sz="1800"/>
            </a:pPr>
            <a:r>
              <a:t>sätzlichen Prüfungen. Auch beim Verkauf eines Grundstücks erleichtern nachvollziehbare Unterlagen die Einschätzung der vorhandenen Anlage. Die Unterlagen sollten deshalb nicht als nebensächliche Verwaltungsarbeit, sondern als dauerhafte Entscheidungsgrundlage behandelt werden. Welche Positionen bei den Kosten berücksichtigt werden sollten, zeigt der [Kosten-Ratgeber für Holz-Terrassenüberdachungen](https://www.spreeterrassendach.de/ratgeber/kosten/).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wichtigsten Dokumente für die Übergabe</a:t>
            </a:r>
          </a:p>
        </p:txBody>
      </p:sp>
      <p:sp>
        <p:nvSpPr>
          <p:cNvPr id="3" name="Content Placeholder 2"/>
          <p:cNvSpPr>
            <a:spLocks noGrp="1"/>
          </p:cNvSpPr>
          <p:nvPr>
            <p:ph idx="1"/>
          </p:nvPr>
        </p:nvSpPr>
        <p:spPr/>
        <p:txBody>
          <a:bodyPr/>
          <a:lstStyle/>
          <a:p>
            <a:pPr>
              <a:defRPr sz="1800"/>
            </a:pPr>
            <a:r>
              <a:t>Zur vollständigen Übergabe gehören vor allem eine Standsicherheitsbestätigung mit Angaben zur Bemessung, eine Konstruktionszeichnung sowie Informationen zu Material, Ausführung und Fundamenten. Die Standsicherheitsbestätigung dokumentiert, ob Tragwerk, Stützen, Verbindungen und Fundamente entsprechend der bemessenen Planung ausgeführt wurden und die maßgebenden Lasten wie Eigengewicht, Schnee und Wind berücksichtigt sind. Konstruktionszeichnungen mit wesentlichen Maßen, Stützenpositionen und Anschlusspunkten zeigen, wo später gearbeitet werden darf und welche Flächen tatsächlich überdacht sind. Materialangaben zur Holzart, Qualität, verwendet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wichtigsten Dokumente für die Übergabe</a:t>
            </a:r>
          </a:p>
        </p:txBody>
      </p:sp>
      <p:sp>
        <p:nvSpPr>
          <p:cNvPr id="3" name="Content Placeholder 2"/>
          <p:cNvSpPr>
            <a:spLocks noGrp="1"/>
          </p:cNvSpPr>
          <p:nvPr>
            <p:ph idx="1"/>
          </p:nvPr>
        </p:nvSpPr>
        <p:spPr/>
        <p:txBody>
          <a:bodyPr/>
          <a:lstStyle/>
          <a:p>
            <a:pPr>
              <a:defRPr sz="1800"/>
            </a:pPr>
            <a:r>
              <a:t>en Verbindungsmitteln und Oberflächenbehandlung ergänzen diese technischen Unterlagen. Angaben zur Entwässerung sowie zur Ausführung von Punktfundamenten, Streifenfundamenten oder Schraubfundamenten machen die Konstruktion ebenfalls nachvollziehbar. Bestehende Terrassenplatten ersetzen dabei keinen Nachweis für ein geeignetes Fundament.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Pflegehinweise müssen zur konkreten Ausführung passen</a:t>
            </a:r>
          </a:p>
        </p:txBody>
      </p:sp>
      <p:sp>
        <p:nvSpPr>
          <p:cNvPr id="3" name="Content Placeholder 2"/>
          <p:cNvSpPr>
            <a:spLocks noGrp="1"/>
          </p:cNvSpPr>
          <p:nvPr>
            <p:ph idx="1"/>
          </p:nvPr>
        </p:nvSpPr>
        <p:spPr/>
        <p:txBody>
          <a:bodyPr/>
          <a:lstStyle/>
          <a:p>
            <a:pPr>
              <a:defRPr sz="1800"/>
            </a:pPr>
            <a:r>
              <a:t>Holz im Außenbereich ist Bewitterung, Feuchte und UV-Strahlung ausgesetzt. Deshalb sollten die übergebenen Pflege- und Wartungshinweise nicht nur allgemein erklären, dass Holz regelmäßig gepflegt werden muss. Sie ought sich auf die tatsächlich verwendete Holzart, die Oberflächenbehandlung und die eingesetzten Verbindungsmittel beziehen. Welche Flächen zu kontrollieren sind, wie Befestigungen überprüft werden und worauf bei der Entwässerung zu achten ist, sollte verständlich beschrieben sein. Hilfreich ist außerdem eine Angabe, welche Arbeiten die Oberflächenbehandlung beeinträchtigen können. Bei späteren Ergänzungen von Beleuchtung oder Elekt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Pflegehinweise müssen zur konkreten Ausführung passen</a:t>
            </a:r>
          </a:p>
        </p:txBody>
      </p:sp>
      <p:sp>
        <p:nvSpPr>
          <p:cNvPr id="3" name="Content Placeholder 2"/>
          <p:cNvSpPr>
            <a:spLocks noGrp="1"/>
          </p:cNvSpPr>
          <p:nvPr>
            <p:ph idx="1"/>
          </p:nvPr>
        </p:nvSpPr>
        <p:spPr/>
        <p:txBody>
          <a:bodyPr/>
          <a:lstStyle/>
          <a:p>
            <a:pPr>
              <a:defRPr sz="1800"/>
            </a:pPr>
            <a:r>
              <a:t>roinstallation ist außerdem zu klären, ob die Planung bereits berücksichtigt wurde. Allgemeine Pflegetipps ersetzen keine projektbezogenen Empfehlungen. Wer einen Vergleich der relevanten [Kosten für Holz-Terrassenüberdachungen](https://www.spreeterrassendach.de/ratgeber/kosten/) wünscht, sollte diese Dokumentationsleistungen im Angebot ausdrücklich prüfen.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Bausatz und Montageangebot eindeutig unterscheiden</a:t>
            </a:r>
          </a:p>
        </p:txBody>
      </p:sp>
      <p:sp>
        <p:nvSpPr>
          <p:cNvPr id="3" name="Content Placeholder 2"/>
          <p:cNvSpPr>
            <a:spLocks noGrp="1"/>
          </p:cNvSpPr>
          <p:nvPr>
            <p:ph idx="1"/>
          </p:nvPr>
        </p:nvSpPr>
        <p:spPr/>
        <p:txBody>
          <a:bodyPr/>
          <a:lstStyle/>
          <a:p>
            <a:pPr>
              <a:defRPr sz="1800"/>
            </a:pPr>
            <a:r>
              <a:t>Nicht jede Lieferung umfasst denselben Umfang. Bei einem reinen Bausatz bleiben Planung, Fundamente und Montage grundsätzlich in der Verantwortung des Bestellers. Erbrachte Leistungen und übernommene Positionen sollten deshalb eigenständig dokumentiert werden. Ein vollständiges Montageangebot muss dagegen erkennen lassen, welche Leistungen von der Planung und Bemessung über die Fundamente bis zur Montage und Übergabe übernommen wurden. Diese Abgrenzung verhindert Missverständnisse über Verantwortlichkeiten und Zuständigkeiten. Zu Beginn sind deshalb nicht nur Preis und Lieferumfang, sondern auch die zugesagten Unterlagen zu vereinbaren. Sinnv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Bausatz und Montageangebot eindeutig unterscheiden</a:t>
            </a:r>
          </a:p>
        </p:txBody>
      </p:sp>
      <p:sp>
        <p:nvSpPr>
          <p:cNvPr id="3" name="Content Placeholder 2"/>
          <p:cNvSpPr>
            <a:spLocks noGrp="1"/>
          </p:cNvSpPr>
          <p:nvPr>
            <p:ph idx="1"/>
          </p:nvPr>
        </p:nvSpPr>
        <p:spPr/>
        <p:txBody>
          <a:bodyPr/>
          <a:lstStyle/>
          <a:p>
            <a:pPr>
              <a:defRPr sz="1800"/>
            </a:pPr>
            <a:r>
              <a:t>oll ist eine schriftliche Liste mit Standsicherheitsbestätigung, Konstruktionszeichnung, Material- und Ausführungsdetails, projektspezifischen Pflegehinweisen sowie Dokumentation zu Fundamenten und Entwässerung. So lässt sich bei der Abnahme prüfen, ob die vereinbarten Leistungen vollständig erbracht wurden.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frühzeitig anfordern und gemeinsam prüfen</a:t>
            </a:r>
          </a:p>
        </p:txBody>
      </p:sp>
      <p:sp>
        <p:nvSpPr>
          <p:cNvPr id="3" name="Content Placeholder 2"/>
          <p:cNvSpPr>
            <a:spLocks noGrp="1"/>
          </p:cNvSpPr>
          <p:nvPr>
            <p:ph idx="1"/>
          </p:nvPr>
        </p:nvSpPr>
        <p:spPr/>
        <p:txBody>
          <a:bodyPr/>
          <a:lstStyle/>
          <a:p>
            <a:pPr>
              <a:defRPr sz="1800"/>
            </a:pPr>
            <a:r>
              <a:t>Am wirksamsten ist die Anforderung vor Beginn der Arbeiten. Eine feste Vereinbarung im Angebot oder Vertrag schafft Klarheit darüber, welche Dokumente zur vollständigen Übergabe gehören, und verhindert, dass wichtige Nachweise erst später gesucht werden müssen. Bei der Abnahme bietet sich eine gemeinsame Kontrolle an: Zeichnungen und tatsächliche Ausführung werden verglichen, die Standsicherheitsbestätigung wird auf den passenden Umfang geprüft und Pflegehinweise werden auf ihren Projektbezug hin nachgelesen. Danach sollten die Unterlagen vollständig, lesbar und beim Bauherrn hinterlegt sein. Fehlt etwas, lässt sich der offene Punkt noch währ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frühzeitig anfordern und gemeinsam prüfen</a:t>
            </a:r>
          </a:p>
        </p:txBody>
      </p:sp>
      <p:sp>
        <p:nvSpPr>
          <p:cNvPr id="3" name="Content Placeholder 2"/>
          <p:cNvSpPr>
            <a:spLocks noGrp="1"/>
          </p:cNvSpPr>
          <p:nvPr>
            <p:ph idx="1"/>
          </p:nvPr>
        </p:nvSpPr>
        <p:spPr/>
        <p:txBody>
          <a:bodyPr/>
          <a:lstStyle/>
          <a:p>
            <a:pPr>
              <a:defRPr sz="1800"/>
            </a:pPr>
            <a:r>
              <a:t>end der Montage klären. Für eine nachträgliche Änderung, eine Nutzungserweiterung oder den Verkauf ist die Dokumentation dann sofort verfügbar. Das Ergebnis ist eine kompakte, belastbare Grundlage, mit der sich die Holz-Terrassenüberdachung technisch beurteilen und angemessen weiterführen lässt.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Unterlagen nach der Montage: Was Bauherren vom Holzterrassendach erwarten sollten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