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terrassendach/-/blob/9874605b7e5b3c2b1a74ebdd1ecabccc7f22cd6e/_posts/2026-10-18-angebotsvergleich-holzterrassendach-positionen.md" TargetMode="External"/><Relationship Id="rId3" Type="http://schemas.openxmlformats.org/officeDocument/2006/relationships/hyperlink" Target="https://holzundhaus.github.io/spreeterrassendach/dateien/minimax-43a56f53d279dbc4d142f0aa/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der Gesamtpreis bei Holzterrassendach-Angeboten nicht alles verrät · Erklärende Präsentation</a:t>
            </a:r>
          </a:p>
        </p:txBody>
      </p:sp>
      <p:sp>
        <p:nvSpPr>
          <p:cNvPr id="3" name="Content Placeholder 2"/>
          <p:cNvSpPr>
            <a:spLocks noGrp="1"/>
          </p:cNvSpPr>
          <p:nvPr>
            <p:ph idx="1"/>
          </p:nvPr>
        </p:nvSpPr>
        <p:spPr/>
        <p:txBody>
          <a:bodyPr/>
          <a:lstStyle/>
          <a:p>
            <a:r>
              <a:t>Überblick: Ein günstiger Gesamtpreis macht ein Holzterrassendach noch nicht vergleichbar. Entscheidend ist vor allem, welcher Leistungsumfang darin enthalten ist und welche Arbeiten ausdrücklich fehlen. Der folgende Leitfaden zeigt, welche Positionen bei Angeboten geprüft werden sollten und welche Angaben Ihnen helfen, Angebote belastbar gegenüberzustellen.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Quadratmeterpreise allein nicht genügen</a:t>
            </a:r>
          </a:p>
        </p:txBody>
      </p:sp>
      <p:sp>
        <p:nvSpPr>
          <p:cNvPr id="3" name="Content Placeholder 2"/>
          <p:cNvSpPr>
            <a:spLocks noGrp="1"/>
          </p:cNvSpPr>
          <p:nvPr>
            <p:ph idx="1"/>
          </p:nvPr>
        </p:nvSpPr>
        <p:spPr/>
        <p:txBody>
          <a:bodyPr/>
          <a:lstStyle/>
          <a:p>
            <a:pPr>
              <a:defRPr sz="1800"/>
            </a:pPr>
            <a:r>
              <a:t>Der Preis pro Quadratmeter beschreibt lediglich eine Fläche, nicht den tatsächlichen Aufwand. Breite, Tiefe, Spannweite, Holzart und vorhandener Untergrund beeinflussen Materialbedarf und Montage. Dasselbe Quadratmeter kann daher unterschiedlich aufwendig sein. Besonders relevant ist die freie Spannweite: Sollen mehrere Stützen entfallen, verändert sich die statische Bemessung. Auch die Qualität des Holzes und die vorgesehene Oberflächenbehandlung gehören zur Ausführung. Eine allgemeine Bezeichnung wie „Holz“ reicht deshalb nicht aus. Achten Sie darauf, welche Materialien, Verbindungsmittel und Oberflächen konkret vereinbart wurden.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Untergrund und Fundamente prüfen</a:t>
            </a:r>
          </a:p>
        </p:txBody>
      </p:sp>
      <p:sp>
        <p:nvSpPr>
          <p:cNvPr id="3" name="Content Placeholder 2"/>
          <p:cNvSpPr>
            <a:spLocks noGrp="1"/>
          </p:cNvSpPr>
          <p:nvPr>
            <p:ph idx="1"/>
          </p:nvPr>
        </p:nvSpPr>
        <p:spPr/>
        <p:txBody>
          <a:bodyPr/>
          <a:lstStyle/>
          <a:p>
            <a:pPr>
              <a:defRPr sz="1800"/>
            </a:pPr>
            <a:r>
              <a:t>Ein vollständiges Tragwerk umfasst mehr als sichtbare Holzteile. Fragen Sie, welche Stützen, Balken und weiteren Bauteile enthalten sind, wie sie verbunden werden und welche konstruktive Lösung für die gewünschte Spannweite vorgesehen ist. Die Stützen müssen ihre Lasten in einen geeigneten Untergrund ableiten. Je nach Situation können Erdarbeiten, neue Fundamente oder Anpassungen an eine vorhandene Terrasse erforderlich sein. Ob bestehende Bauteile verwendet werden können, lässt sich nur projektbezogen beurteilen. Lassen Sie deshalb getrennt ausweisen, welche Arbeiten am Untergrund und welche Materialien für Fundamente im Angebot enthalten si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Tragwerk, Untergrund und Fundamente prüfen</a:t>
            </a:r>
          </a:p>
        </p:txBody>
      </p:sp>
      <p:sp>
        <p:nvSpPr>
          <p:cNvPr id="3" name="Content Placeholder 2"/>
          <p:cNvSpPr>
            <a:spLocks noGrp="1"/>
          </p:cNvSpPr>
          <p:nvPr>
            <p:ph idx="1"/>
          </p:nvPr>
        </p:nvSpPr>
        <p:spPr/>
        <p:txBody>
          <a:bodyPr/>
          <a:lstStyle/>
          <a:p>
            <a:pPr>
              <a:defRPr sz="1800"/>
            </a:pPr>
            <a:r>
              <a:t>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Wandanschluss und Entwässerung im Detail klären</a:t>
            </a:r>
          </a:p>
        </p:txBody>
      </p:sp>
      <p:sp>
        <p:nvSpPr>
          <p:cNvPr id="3" name="Content Placeholder 2"/>
          <p:cNvSpPr>
            <a:spLocks noGrp="1"/>
          </p:cNvSpPr>
          <p:nvPr>
            <p:ph idx="1"/>
          </p:nvPr>
        </p:nvSpPr>
        <p:spPr/>
        <p:txBody>
          <a:bodyPr/>
          <a:lstStyle/>
          <a:p>
            <a:pPr>
              <a:defRPr sz="1800"/>
            </a:pPr>
            <a:r>
              <a:t>Bei einem am Haus angeschlossenen Terrassendach sind Befestigung und Abdichtung wesentliche Bestandteile. Die vorhandene Wand beeinflusst die Ausführung; eine Fassade allein sagt jedoch noch nicht, ob sie als geeigneter Befestigungsgrund infrage kommt. Lassen Sie die Anschlussplanung und das vorgesehene Abdichtungsdetail ausdrücklich benennen. Für ein freistehendes Dach wird unterdessen eine passende Stützenanordnung benötigt. Auch die Dacheindeckung bestimmt Material, Befestigung und Gewicht. Dachrinne, Ablauf und die geplante Wasserableitung sollten eigene Positionen sein. So bleibt sichtbar, ob das Dach tatsächlich durchgehend funktionsfäh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Wandanschluss und Entwässerung im Detail klären</a:t>
            </a:r>
          </a:p>
        </p:txBody>
      </p:sp>
      <p:sp>
        <p:nvSpPr>
          <p:cNvPr id="3" name="Content Placeholder 2"/>
          <p:cNvSpPr>
            <a:spLocks noGrp="1"/>
          </p:cNvSpPr>
          <p:nvPr>
            <p:ph idx="1"/>
          </p:nvPr>
        </p:nvSpPr>
        <p:spPr/>
        <p:txBody>
          <a:bodyPr/>
          <a:lstStyle/>
          <a:p>
            <a:pPr>
              <a:defRPr sz="1800"/>
            </a:pPr>
            <a:r>
              <a:t>ig ausgeführt wird.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Bausatz und Komplettangebot auseinanderhalten</a:t>
            </a:r>
          </a:p>
        </p:txBody>
      </p:sp>
      <p:sp>
        <p:nvSpPr>
          <p:cNvPr id="3" name="Content Placeholder 2"/>
          <p:cNvSpPr>
            <a:spLocks noGrp="1"/>
          </p:cNvSpPr>
          <p:nvPr>
            <p:ph idx="1"/>
          </p:nvPr>
        </p:nvSpPr>
        <p:spPr/>
        <p:txBody>
          <a:bodyPr/>
          <a:lstStyle/>
          <a:p>
            <a:pPr>
              <a:defRPr sz="1800"/>
            </a:pPr>
            <a:r>
              <a:t>Ein Bausatzangebot beschreibt vor allem die gelieferten Teile. Ein Montageangebot sollte dagegen auch die vereinbarten Arbeiten vor Ort abbilden. Der Begriff „komplett“ genügt nicht, wenn keine Positionsliste vorliegt. Prüfen Sie getrennt, ob Tragwerk, Planung, Fundamente, Eindeckung, Rinne, Ablauf, Anlieferung und Montage enthalten sind. Ebenso wichtig sind Nebenarbeiten wie die Wiederherstellung vorhandener Flächen oder die Entsorgung. Zugriff und Zufahrt auf die Terrasse können den Montageumfang beeinflussen. Fotos und Angaben zu Hindernissen helfen, Angebote genauer zu kalkulieren. Nicht ausdrücklich genannte Leistungen sollten nicht stil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Bausatz und Komplettangebot auseinanderhalten</a:t>
            </a:r>
          </a:p>
        </p:txBody>
      </p:sp>
      <p:sp>
        <p:nvSpPr>
          <p:cNvPr id="3" name="Content Placeholder 2"/>
          <p:cNvSpPr>
            <a:spLocks noGrp="1"/>
          </p:cNvSpPr>
          <p:nvPr>
            <p:ph idx="1"/>
          </p:nvPr>
        </p:nvSpPr>
        <p:spPr/>
        <p:txBody>
          <a:bodyPr/>
          <a:lstStyle/>
          <a:p>
            <a:pPr>
              <a:defRPr sz="1800"/>
            </a:pPr>
            <a:r>
              <a:t>lschweigend als enthalten gelten.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bereiten Sie eine vergleichbare Anfrage vor</a:t>
            </a:r>
          </a:p>
        </p:txBody>
      </p:sp>
      <p:sp>
        <p:nvSpPr>
          <p:cNvPr id="3" name="Content Placeholder 2"/>
          <p:cNvSpPr>
            <a:spLocks noGrp="1"/>
          </p:cNvSpPr>
          <p:nvPr>
            <p:ph idx="1"/>
          </p:nvPr>
        </p:nvSpPr>
        <p:spPr/>
        <p:txBody>
          <a:bodyPr/>
          <a:lstStyle/>
          <a:p>
            <a:pPr>
              <a:defRPr sz="1800"/>
            </a:pPr>
            <a:r>
              <a:t>Für einen aussagekräftigen Angebotsvergleich benötigen Anbieter möglichst dieselmen Ausgangsinformationen. Geben Sie die gewünschte Breite, Tiefe, ungefähre Höhe und mögliche Stützenpositionen an. Beschreiben Sie, ob das Dach an der Hauswand angeschlossen oder freistehend geplant ist, und nennen Sie die gewünschte freie Spannweite. Fotos von Hauswand, Terrasse und Untergrund zeigen die räumlichen Bedingungen. Ergänzen Sie Ihre Wünsche zu Holzoberfläche, Dacheindeckung und Entwässerung. Bitten Sie außerdem, Planung, Fundamente, Lieferung, Montage und Nebenarbeiten einzeln aufzuführen. So können Sie vergleichen, ohne unterschiedliche Leistungsu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bereiten Sie eine vergleichbare Anfrage vor</a:t>
            </a:r>
          </a:p>
        </p:txBody>
      </p:sp>
      <p:sp>
        <p:nvSpPr>
          <p:cNvPr id="3" name="Content Placeholder 2"/>
          <p:cNvSpPr>
            <a:spLocks noGrp="1"/>
          </p:cNvSpPr>
          <p:nvPr>
            <p:ph idx="1"/>
          </p:nvPr>
        </p:nvSpPr>
        <p:spPr/>
        <p:txBody>
          <a:bodyPr/>
          <a:lstStyle/>
          <a:p>
            <a:pPr>
              <a:defRPr sz="1800"/>
            </a:pPr>
            <a:r>
              <a:t>mfänge miteinander zu verwechseln.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Warum der Gesamtpreis bei Holzterrassendach-Angeboten nicht alles verrät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