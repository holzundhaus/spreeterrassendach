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terrassendach.blogspot.com/2026/10/terrassenboden-als-fundament-was.html" TargetMode="External"/><Relationship Id="rId3" Type="http://schemas.openxmlformats.org/officeDocument/2006/relationships/hyperlink" Target="https://holzundhaus.github.io/spreeterrassendach/dateien/minimax-2fc5d576ba35007d0f3c51d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Terrassenboden als Fundament? Was wirklich funktioniert · Erklärende Präsentation</a:t>
            </a:r>
          </a:p>
        </p:txBody>
      </p:sp>
      <p:sp>
        <p:nvSpPr>
          <p:cNvPr id="3" name="Content Placeholder 2"/>
          <p:cNvSpPr>
            <a:spLocks noGrp="1"/>
          </p:cNvSpPr>
          <p:nvPr>
            <p:ph idx="1"/>
          </p:nvPr>
        </p:nvSpPr>
        <p:spPr/>
        <p:txBody>
          <a:bodyPr/>
          <a:lstStyle/>
          <a:p>
            <a:r>
              <a:t>Überblick: Wer eine freistehende Terrassenüberdachung plant, setzt ihre Stützen nicht einfach auf vorhandene Terrassenplatten. Der sichtbare Bodenbelag ist eine Nutzfläche, aber kein Nachweis für die Gründung einer Überdachung. Entscheidend ist, ob Untergrund, Platte und geplante Lasten zusammenpassen und ob die Standsicherheit nachgewiesen werden kann. Der folgende Leitfaden zeigt, welche Fragen vor der Planung geklärt werden sollten und warum ein separates Fundament häufig die sinnvollere Lösung ist. Weitere Hintergründe bietet der Beitrag Terrassenboden als Fundament – was wirklich funktioniert unter https://spreeterrassendach.blogspot.com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Bodenbelag keine Gründung ersetzt</a:t>
            </a:r>
          </a:p>
        </p:txBody>
      </p:sp>
      <p:sp>
        <p:nvSpPr>
          <p:cNvPr id="3" name="Content Placeholder 2"/>
          <p:cNvSpPr>
            <a:spLocks noGrp="1"/>
          </p:cNvSpPr>
          <p:nvPr>
            <p:ph idx="1"/>
          </p:nvPr>
        </p:nvSpPr>
        <p:spPr/>
        <p:txBody>
          <a:bodyPr/>
          <a:lstStyle/>
          <a:p>
            <a:pPr>
              <a:defRPr sz="1800"/>
            </a:pPr>
            <a:r>
              <a:t>Terrassenplatten verteilen Nutzlasten über eine größere Fläche. Eine Stütze belastet dagegen nur einen begrenzten Punkt und leitet ihre Kraft über das Holztragwerk weiter in den Baugrund. Dafür benötigt jede Stütze eine passende Gründung, deren Bemessung von der erwarteten Last, dem Untergrund und der gewählten Konstruktion abhängt. Die Dicke eines sichtbaren Belags allein beantwortet diese Fragen nicht. Auch eine bereits genutzte Terrasse kann bei schweren oder ungünstigen Untergrundverhältnissen setzen. Weil sich Tragfähigkeit, Baugrund und Lastabtrag nicht zuverlässig aus einem Foto oder einer allgemeinen Tabelle ableiten lassen, sollte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Bodenbelag keine Gründung ersetzt</a:t>
            </a:r>
          </a:p>
        </p:txBody>
      </p:sp>
      <p:sp>
        <p:nvSpPr>
          <p:cNvPr id="3" name="Content Placeholder 2"/>
          <p:cNvSpPr>
            <a:spLocks noGrp="1"/>
          </p:cNvSpPr>
          <p:nvPr>
            <p:ph idx="1"/>
          </p:nvPr>
        </p:nvSpPr>
        <p:spPr/>
        <p:txBody>
          <a:bodyPr/>
          <a:lstStyle/>
          <a:p>
            <a:pPr>
              <a:defRPr sz="1800"/>
            </a:pPr>
            <a:r>
              <a:t>e Stützenanordnung früh mit den tatsächlichen Gegebenheiten abgestimmt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Punkte vor Ort geprüft werden müssen</a:t>
            </a:r>
          </a:p>
        </p:txBody>
      </p:sp>
      <p:sp>
        <p:nvSpPr>
          <p:cNvPr id="3" name="Content Placeholder 2"/>
          <p:cNvSpPr>
            <a:spLocks noGrp="1"/>
          </p:cNvSpPr>
          <p:nvPr>
            <p:ph idx="1"/>
          </p:nvPr>
        </p:nvSpPr>
        <p:spPr/>
        <p:txBody>
          <a:bodyPr/>
          <a:lstStyle/>
          <a:p>
            <a:pPr>
              <a:defRPr sz="1800"/>
            </a:pPr>
            <a:r>
              <a:t>Bei der Prüfung eines vorhandenen Belags spielen mehrere Faktoren zusammen: Ist der Boden unter der Platte verdichtet und ausreichend frostsicher? Wie dick ist die Platte, und aus welchem Material besteht sie? Kann sie die punktuell eingeleiteten Kräfte aufnehmen? Wie groß und schwer wird die freistehende Überdachung voraussichtlich? Besonders wichtig ist außerdem, ob die Konstruktion nur an der Hauswand befestigt wird oder ohne Hauswand auskommt. Eine freistehende Überdachung benötigt eine eigene, standfeste Anordnung der Stützen. Vor Ort sollte deshalb nicht nur die Oberfläche begutachtet werden. Entscheidend ist auch, welche Schichten unte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Punkte vor Ort geprüft werden müssen</a:t>
            </a:r>
          </a:p>
        </p:txBody>
      </p:sp>
      <p:sp>
        <p:nvSpPr>
          <p:cNvPr id="3" name="Content Placeholder 2"/>
          <p:cNvSpPr>
            <a:spLocks noGrp="1"/>
          </p:cNvSpPr>
          <p:nvPr>
            <p:ph idx="1"/>
          </p:nvPr>
        </p:nvSpPr>
        <p:spPr/>
        <p:txBody>
          <a:bodyPr/>
          <a:lstStyle/>
          <a:p>
            <a:pPr>
              <a:defRPr sz="1800"/>
            </a:pPr>
            <a:r>
              <a:t>r dem Belag liegen und ob deren Tragfähigkeit bekannt ist. Bei Zweifeln ist eine projektbezogene Einschätzung durch eine qualifizierte Fachperson sinnvoll.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separates Fundament zweckmäßig ist</a:t>
            </a:r>
          </a:p>
        </p:txBody>
      </p:sp>
      <p:sp>
        <p:nvSpPr>
          <p:cNvPr id="3" name="Content Placeholder 2"/>
          <p:cNvSpPr>
            <a:spLocks noGrp="1"/>
          </p:cNvSpPr>
          <p:nvPr>
            <p:ph idx="1"/>
          </p:nvPr>
        </p:nvSpPr>
        <p:spPr/>
        <p:txBody>
          <a:bodyPr/>
          <a:lstStyle/>
          <a:p>
            <a:pPr>
              <a:defRPr sz="1800"/>
            </a:pPr>
            <a:r>
              <a:t>Separate Punktfundamente oder Streifenfundamente können auch dann erforderlich sein, wenn eine optisch einheitliche Terrassenfläche bereits vorhanden ist. Sie schaffen einen nachvollziehbaren Lastenweg von den Stützen in einen geeigneten Baugrund und schaffen Abstand zu problematischen Stellen unter dem alten Belag. Die Auswahl hängt nicht allein von der Bauform ab: Größe, Anzahl und Anordnung der Stützen, die zu erwartenden Lasten sowie die vorhandenen Bodenverhältnisse beeinflussen die Lösung. Die Fundamentart sollte daher nicht pauschal festgelegt werden. Sinnvoll ist eine Abstimmung, bei der die geplante Überdachung, ihre Verbindung zum 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separates Fundament zweckmäßig ist</a:t>
            </a:r>
          </a:p>
        </p:txBody>
      </p:sp>
      <p:sp>
        <p:nvSpPr>
          <p:cNvPr id="3" name="Content Placeholder 2"/>
          <p:cNvSpPr>
            <a:spLocks noGrp="1"/>
          </p:cNvSpPr>
          <p:nvPr>
            <p:ph idx="1"/>
          </p:nvPr>
        </p:nvSpPr>
        <p:spPr/>
        <p:txBody>
          <a:bodyPr/>
          <a:lstStyle/>
          <a:p>
            <a:pPr>
              <a:defRPr sz="1800"/>
            </a:pPr>
            <a:r>
              <a:t>aus und die Gründung als ein zusammenhängendes System betrachtet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Planung verhindert teure Überraschungen</a:t>
            </a:r>
          </a:p>
        </p:txBody>
      </p:sp>
      <p:sp>
        <p:nvSpPr>
          <p:cNvPr id="3" name="Content Placeholder 2"/>
          <p:cNvSpPr>
            <a:spLocks noGrp="1"/>
          </p:cNvSpPr>
          <p:nvPr>
            <p:ph idx="1"/>
          </p:nvPr>
        </p:nvSpPr>
        <p:spPr/>
        <p:txBody>
          <a:bodyPr/>
          <a:lstStyle/>
          <a:p>
            <a:pPr>
              <a:defRPr sz="1800"/>
            </a:pPr>
            <a:r>
              <a:t>Wer den Untergrund und die Fundamente erst kurz vor der Montage klärt, riskiert Verzögerungen und zusätzliche Arbeiten. Hilfreich ist eine frühe Bestandsaufnahme mit Angaben zu Untergrund, bestehendem Belag, gewünschter Überdachung und voraussichtlicher Nutzung. In Angeboten und Leistungsbeschreibungen sollten die Gründungsleistungen ausdrücklich benannt werden. Dazu gehören Angaben dazu, welche Lasten berücksichtigt werden, wo die Stützen stehen sollen und ob zusätzliche Erdarbeiten oder Fundamente vorgesehen sind. Eine klare Dokumentation erleichtert auch die weitere Abstimmung zwischen Planung, Angebot und Ausführung. Wer sich vorab mit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Planung verhindert teure Überraschungen</a:t>
            </a:r>
          </a:p>
        </p:txBody>
      </p:sp>
      <p:sp>
        <p:nvSpPr>
          <p:cNvPr id="3" name="Content Placeholder 2"/>
          <p:cNvSpPr>
            <a:spLocks noGrp="1"/>
          </p:cNvSpPr>
          <p:nvPr>
            <p:ph idx="1"/>
          </p:nvPr>
        </p:nvSpPr>
        <p:spPr/>
        <p:txBody>
          <a:bodyPr/>
          <a:lstStyle/>
          <a:p>
            <a:pPr>
              <a:defRPr sz="1800"/>
            </a:pPr>
            <a:r>
              <a:t>m Thema auseinandersetzt, findet ergänzend die wichtigsten Prüfpunkte im Überblick Terrassenboden als Fundament: wichtige Fragen vor der Planung unter https://spreeterrassendach.blogspot.com/2026/10/terrassenboden-als-fundament-was.html.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Terrassenboden als Fundament? Was wirklich funktioniert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