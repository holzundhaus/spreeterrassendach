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terrassendach/bebauungsplan-planungsrechtliche-vorgaben-berlin-terrassenueberdachung/" TargetMode="External"/><Relationship Id="rId3" Type="http://schemas.openxmlformats.org/officeDocument/2006/relationships/hyperlink" Target="https://holzundhaus.github.io/spreeterrassendach/dateien/minimax-23c426a6c722e7f90637135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Bebauungsplan und planungsrechtliche Vorgaben auf Berliner Grundstücken: Warum eine verfahrensfreie Terrassenüberdachung trotzdem unzulässig sein kann · Erklärende Präsentation</a:t>
            </a:r>
          </a:p>
        </p:txBody>
      </p:sp>
      <p:sp>
        <p:nvSpPr>
          <p:cNvPr id="3" name="Content Placeholder 2"/>
          <p:cNvSpPr>
            <a:spLocks noGrp="1"/>
          </p:cNvSpPr>
          <p:nvPr>
            <p:ph idx="1"/>
          </p:nvPr>
        </p:nvSpPr>
        <p:spPr/>
        <p:txBody>
          <a:bodyPr/>
          <a:lstStyle/>
          <a:p>
            <a:r>
              <a:t>Überblick: Eine Terrassenüberdachung kann formal verfahrensfrei sein und dennoch am konkreten Standort unzulässig sein. Für eine belastbare Planung sollten deshalb nicht nur Größe und Tiefe, sondern auch Bebauungsplan, Abstandsflächen und weitere öffentlich-rechtliche Belange geprüft werden. Das folgende Prüfpaket hilft, offene Fragen vor der Angebots- und Planungsphase zu ordnen.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Verfahrensfrage ist nicht die Zulässigkeitsfrage</a:t>
            </a:r>
          </a:p>
        </p:txBody>
      </p:sp>
      <p:sp>
        <p:nvSpPr>
          <p:cNvPr id="3" name="Content Placeholder 2"/>
          <p:cNvSpPr>
            <a:spLocks noGrp="1"/>
          </p:cNvSpPr>
          <p:nvPr>
            <p:ph idx="1"/>
          </p:nvPr>
        </p:nvSpPr>
        <p:spPr/>
        <p:txBody>
          <a:bodyPr/>
          <a:lstStyle/>
          <a:p>
            <a:pPr>
              <a:defRPr sz="1800"/>
            </a:pPr>
            <a:r>
              <a:t>Die Grenzen von 30 m² Fläche und 3 m Tiefe nach § 61 Absatz 1 Nummer 1 BauO Bln betreffen das Verfahren. Sie entscheiden, ob für eine Terrassenüberdachung grundsätzlich ein Baugenehmigungsverfahren erforderlich ist. Beide Werte müssen eingehalten werden; die 3 m beziehen sich auf die Tiefe, nicht auf die Höhe. Entscheidend ist jedoch: Nach § 59 Absatz 2 BauO Bln bleibt ein verfahrensfreies Vorhaben an die sonstigen öffentlich-rechtlichen Anforderungen gebunden. Eine kleine Überdachung kann daher formal ohne Baugenehmigung zulässig sein, aber trotzdem gegen Festsetzungen oder Abstandsregelungen verstoßen. Die Größenangaben sollten deshalb nich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Verfahrensfrage ist nicht die Zulässigkeitsfrage</a:t>
            </a:r>
          </a:p>
        </p:txBody>
      </p:sp>
      <p:sp>
        <p:nvSpPr>
          <p:cNvPr id="3" name="Content Placeholder 2"/>
          <p:cNvSpPr>
            <a:spLocks noGrp="1"/>
          </p:cNvSpPr>
          <p:nvPr>
            <p:ph idx="1"/>
          </p:nvPr>
        </p:nvSpPr>
        <p:spPr/>
        <p:txBody>
          <a:bodyPr/>
          <a:lstStyle/>
          <a:p>
            <a:pPr>
              <a:defRPr sz="1800"/>
            </a:pPr>
            <a:r>
              <a:t>t als alleinige Entscheidungsgrundlage verwendet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Bebauungsplan kann den Standort entscheiden</a:t>
            </a:r>
          </a:p>
        </p:txBody>
      </p:sp>
      <p:sp>
        <p:nvSpPr>
          <p:cNvPr id="3" name="Content Placeholder 2"/>
          <p:cNvSpPr>
            <a:spLocks noGrp="1"/>
          </p:cNvSpPr>
          <p:nvPr>
            <p:ph idx="1"/>
          </p:nvPr>
        </p:nvSpPr>
        <p:spPr/>
        <p:txBody>
          <a:bodyPr/>
          <a:lstStyle/>
          <a:p>
            <a:pPr>
              <a:defRPr sz="1800"/>
            </a:pPr>
            <a:r>
              <a:t>Für das jeweilige Grundstück ist zunächst zu klären, ob ein qualifizierter oder einfacher Bebauungsplan gilt und welche Festsetzungen daraus folgen. Relevant sind insbesondere die überbaubaren Grundstücksflächen, die Bauweise sowie Einschränkungen für Nebenanlagen. Eine geplante Überdachung außerhalb der überbaubaren Fläche kann unzulässig sein, selbst wenn ihre Fläche unter 30 m² und ihre Tiefe unter 3 m liegt. Im Außenbereich ist der Prüfrahmen strenger; dort können zusätzliche Anforderungen greifen. Für die weitere Einordnung bietet sich die Abgrenzung von Verfahren und Zulässigkeit im Ratgeber zur [Baugenehmigung in Berlin](https://www.sp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Bebauungsplan kann den Standort entscheiden</a:t>
            </a:r>
          </a:p>
        </p:txBody>
      </p:sp>
      <p:sp>
        <p:nvSpPr>
          <p:cNvPr id="3" name="Content Placeholder 2"/>
          <p:cNvSpPr>
            <a:spLocks noGrp="1"/>
          </p:cNvSpPr>
          <p:nvPr>
            <p:ph idx="1"/>
          </p:nvPr>
        </p:nvSpPr>
        <p:spPr/>
        <p:txBody>
          <a:bodyPr/>
          <a:lstStyle/>
          <a:p>
            <a:pPr>
              <a:defRPr sz="1800"/>
            </a:pPr>
            <a:r>
              <a:t>reeterrassendach.de/ratgeber/baugenehmigung-berlin/) 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Abstände und weitere Belange konkret erfassen</a:t>
            </a:r>
          </a:p>
        </p:txBody>
      </p:sp>
      <p:sp>
        <p:nvSpPr>
          <p:cNvPr id="3" name="Content Placeholder 2"/>
          <p:cNvSpPr>
            <a:spLocks noGrp="1"/>
          </p:cNvSpPr>
          <p:nvPr>
            <p:ph idx="1"/>
          </p:nvPr>
        </p:nvSpPr>
        <p:spPr/>
        <p:txBody>
          <a:bodyPr/>
          <a:lstStyle/>
          <a:p>
            <a:pPr>
              <a:defRPr sz="1800"/>
            </a:pPr>
            <a:r>
              <a:t>Anschließend braucht es eine einfache Maßskizze mit Breite, Tiefe und Höhe der geplanten Überdachung sowie den Abständen zu allen Grundstücksgrenzen und bestehenden Gebäuden. Nur so lässt sich prüfen, ob die Abstandsflächen eingehalten werden. Wichtig ist außerdem, ob die Konstruktion freisteht oder einen Wandanschluss erhält. Je nach Lage können Denkmalschutz, Erhaltungssatzungen, Baumschutz oder Wasserschutz hinzukommen. Auch eine nachbarliche Zustimmung ersetzt diese öffentlich-rechtlichen Vorgaben nicht. Sie kann allenfalls zusätzlich relevant sein, ist aber keine Erlaubnis und keine Garantie für die Zulässigkeit. Für diese Prüfschritte 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Abstände und weitere Belange konkret erfassen</a:t>
            </a:r>
          </a:p>
        </p:txBody>
      </p:sp>
      <p:sp>
        <p:nvSpPr>
          <p:cNvPr id="3" name="Content Placeholder 2"/>
          <p:cNvSpPr>
            <a:spLocks noGrp="1"/>
          </p:cNvSpPr>
          <p:nvPr>
            <p:ph idx="1"/>
          </p:nvPr>
        </p:nvSpPr>
        <p:spPr/>
        <p:txBody>
          <a:bodyPr/>
          <a:lstStyle/>
          <a:p>
            <a:pPr>
              <a:defRPr sz="1800"/>
            </a:pPr>
            <a:r>
              <a:t>iefert der Beitrag zu [planungsrechtlichen Vorgaben auf Berliner Grundstücken](https://holzundhaus.github.io/spreeterrassendach/bebauungsplan-planungsrechtliche-vorgaben-berlin-terrassenueberdachung/) die maßgeblichen Anknüpfungspunkte.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Bestellung mit der Bauaufsicht klären</a:t>
            </a:r>
          </a:p>
        </p:txBody>
      </p:sp>
      <p:sp>
        <p:nvSpPr>
          <p:cNvPr id="3" name="Content Placeholder 2"/>
          <p:cNvSpPr>
            <a:spLocks noGrp="1"/>
          </p:cNvSpPr>
          <p:nvPr>
            <p:ph idx="1"/>
          </p:nvPr>
        </p:nvSpPr>
        <p:spPr/>
        <p:txBody>
          <a:bodyPr/>
          <a:lstStyle/>
          <a:p>
            <a:pPr>
              <a:defRPr sz="1800"/>
            </a:pPr>
            <a:r>
              <a:t>Wer die Planung nicht allein bewerten kann, sollte die zuständige bezirkliche Bauaufsicht frühzeitig einbinden. Hilfreich sind die genaue Adresse, der Bezirk, ein Lageplan oder eine Lagezeichnung, eine Maßskizze, Fotos des Standorts und Angaben zur Bauform einschließlich Wandanschluss. Welche Unterlagen förmlich erforderlich sind, hängt vom Vorhaben und vom Verfahren ab. Werden Fläche oder Tiefe überschritten, greift die genannte Ausnahme für Terrassenüberdachungen nicht mehr; in der Regel ist dann ein Baugenehmigungsverfahren erforderlich. Auch eine spätere seitliche Schließung oder Verglasung kann die Einordnung verändern. Deshalb sollten 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Bestellung mit der Bauaufsicht klären</a:t>
            </a:r>
          </a:p>
        </p:txBody>
      </p:sp>
      <p:sp>
        <p:nvSpPr>
          <p:cNvPr id="3" name="Content Placeholder 2"/>
          <p:cNvSpPr>
            <a:spLocks noGrp="1"/>
          </p:cNvSpPr>
          <p:nvPr>
            <p:ph idx="1"/>
          </p:nvPr>
        </p:nvSpPr>
        <p:spPr/>
        <p:txBody>
          <a:bodyPr/>
          <a:lstStyle/>
          <a:p>
            <a:pPr>
              <a:defRPr sz="1800"/>
            </a:pPr>
            <a:r>
              <a:t>ffene Punkte geklärt sein, bevor Material, Fundamente oder Eindeckung disponiert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Bebauungsplan und planungsrechtliche Vorgaben auf Berliner Grundstücken: Warum eine verfahrensfreie Terrassenüberdachung trotzdem unzulässig sein kann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