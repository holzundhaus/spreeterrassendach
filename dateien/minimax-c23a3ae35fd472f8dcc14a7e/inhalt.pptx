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terrassendach/denkmalschutz-berlin-terrassenueberdachung/" TargetMode="External"/><Relationship Id="rId3" Type="http://schemas.openxmlformats.org/officeDocument/2006/relationships/hyperlink" Target="https://holzundhaus.github.io/spreeterrassendach/dateien/minimax-c23a3ae35fd472f8dcc14a7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in Berlin bei einer Terrassenüberdachung: Wann er greift und wer zuständig ist · Erklärende Präsentation</a:t>
            </a:r>
          </a:p>
        </p:txBody>
      </p:sp>
      <p:sp>
        <p:nvSpPr>
          <p:cNvPr id="3" name="Content Placeholder 2"/>
          <p:cNvSpPr>
            <a:spLocks noGrp="1"/>
          </p:cNvSpPr>
          <p:nvPr>
            <p:ph idx="1"/>
          </p:nvPr>
        </p:nvSpPr>
        <p:spPr/>
        <p:txBody>
          <a:bodyPr/>
          <a:lstStyle/>
          <a:p>
            <a:r>
              <a:t>Überblick: Eine Terrassenüberdachung kann auch dann rechtlich relevant sein, wenn sie nach § 61 BauO Bln verfahrensfrei wäre. Besonders bei Baudenkmälern, Ensemble- oder Bereichsdenkmälern und erhaltenswerten Außenanlagen sollte der Denkmalschutz frühzeitig geprüft werden. Die Satelliten-Quelle kann dabei helfen, Grundstück, Gebäude und Umfeld zunächst räumlich einzuordnen. Sie ersetzt jedoch weder die Auskunft der zuständigen Denkmalschutzbehörde noch eine objektbezogene Prüfung. Der folgende Ablauf zeigt, wie sich Satellitenmaterial sinnvoll vorbereiten und mit belastbaren Unterlagen verbinden lässt.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Satelliten-Quelle nur den ersten Eindruck liefert</a:t>
            </a:r>
          </a:p>
        </p:txBody>
      </p:sp>
      <p:sp>
        <p:nvSpPr>
          <p:cNvPr id="3" name="Content Placeholder 2"/>
          <p:cNvSpPr>
            <a:spLocks noGrp="1"/>
          </p:cNvSpPr>
          <p:nvPr>
            <p:ph idx="1"/>
          </p:nvPr>
        </p:nvSpPr>
        <p:spPr/>
        <p:txBody>
          <a:bodyPr/>
          <a:lstStyle/>
          <a:p>
            <a:pPr>
              <a:defRPr sz="1800"/>
            </a:pPr>
            <a:r>
              <a:t>Ein Satellitenbild ist vor allem für die räumliche Orientierung nützlich: Erkennbar werden Lage und Zuschnitt des Grundstücks, die Stellung des Gebäudes sowie die angrenzende Bebauung. Das erleichtert die Vorbereitung einer Anfrage zur Terrassenüberdachung und hilft dabei, die Stellung der geplanten Überdachung im Grundstücksgefüge zu verstehen. Aus einem Satellitenbild lässt sich jedoch nicht verbindlich ableiten, ob ein Gebäude als Baudenkmal geführt, ein Ensemble oder Bereichsdenkmal geschützt oder eine Erhaltungssatzung vorhanden ist. Auch erkennen Satellitenbilder nicht automatisch, ob eine Gartenmauer, ein Hofpflaster oder ein Zugangswe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Satelliten-Quelle nur den ersten Eindruck liefert</a:t>
            </a:r>
          </a:p>
        </p:txBody>
      </p:sp>
      <p:sp>
        <p:nvSpPr>
          <p:cNvPr id="3" name="Content Placeholder 2"/>
          <p:cNvSpPr>
            <a:spLocks noGrp="1"/>
          </p:cNvSpPr>
          <p:nvPr>
            <p:ph idx="1"/>
          </p:nvPr>
        </p:nvSpPr>
        <p:spPr/>
        <p:txBody>
          <a:bodyPr/>
          <a:lstStyle/>
          <a:p>
            <a:pPr>
              <a:defRPr sz="1800"/>
            </a:pPr>
            <a:r>
              <a:t>g denkmalgeschützt ist. Die Satelliten-Quelle sollte deshalb als visuelle Planungshilfe behandelt werden, nicht als Nachweis der rechtlichen Einordnung.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getrennt vom Bauordnungsrecht prüfen</a:t>
            </a:r>
          </a:p>
        </p:txBody>
      </p:sp>
      <p:sp>
        <p:nvSpPr>
          <p:cNvPr id="3" name="Content Placeholder 2"/>
          <p:cNvSpPr>
            <a:spLocks noGrp="1"/>
          </p:cNvSpPr>
          <p:nvPr>
            <p:ph idx="1"/>
          </p:nvPr>
        </p:nvSpPr>
        <p:spPr/>
        <p:txBody>
          <a:bodyPr/>
          <a:lstStyle/>
          <a:p>
            <a:pPr>
              <a:defRPr sz="1800"/>
            </a:pPr>
            <a:r>
              <a:t>Die Verfahrensfreiheit nach § 61 BauO Bln beantwortet die Frage, ob ein bauaufsichtliches Genehmigungsverfahren erforderlich ist. Der Denkmalschutz bildet eine eigenständige rechtliche Prüfung. Wird eine Terrassenüberdachung an einem unter Denkmalschutz stehenden Haus, in einem Ensemble oder in einem Bereich mit Erhaltungssatzung geplant, kann diese Prüfung auch bei einer kleinen oder grundsätzlich verfahrensfreien Maßnahme notwendig sein. Ebenso getrennt ist die Frage nach einer Nachbarschaftszustimmung. Eine schriftliche Einigung mit dem Nachbarn betrifft das Nachbarschaftsverhältnis und ersetzt weder die bauordnungsrechtliche noch die denk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getrennt vom Bauordnungsrecht prüfen</a:t>
            </a:r>
          </a:p>
        </p:txBody>
      </p:sp>
      <p:sp>
        <p:nvSpPr>
          <p:cNvPr id="3" name="Content Placeholder 2"/>
          <p:cNvSpPr>
            <a:spLocks noGrp="1"/>
          </p:cNvSpPr>
          <p:nvPr>
            <p:ph idx="1"/>
          </p:nvPr>
        </p:nvSpPr>
        <p:spPr/>
        <p:txBody>
          <a:bodyPr/>
          <a:lstStyle/>
          <a:p>
            <a:pPr>
              <a:defRPr sz="1800"/>
            </a:pPr>
            <a:r>
              <a:t>malrechtliche Beurteilung.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Anfrage an den Bezirk sinnvoll ist</a:t>
            </a:r>
          </a:p>
        </p:txBody>
      </p:sp>
      <p:sp>
        <p:nvSpPr>
          <p:cNvPr id="3" name="Content Placeholder 2"/>
          <p:cNvSpPr>
            <a:spLocks noGrp="1"/>
          </p:cNvSpPr>
          <p:nvPr>
            <p:ph idx="1"/>
          </p:nvPr>
        </p:nvSpPr>
        <p:spPr/>
        <p:txBody>
          <a:bodyPr/>
          <a:lstStyle/>
          <a:p>
            <a:pPr>
              <a:defRPr sz="1800"/>
            </a:pPr>
            <a:r>
              <a:t>Eine denkmalrechtliche Klärung sollte insbesondere erwogen werden, wenn das Wohnhaus oder ein Nebengebäude als Baudenkmal geführt wird, das Grundstück in einem Ensemble- oder Bereichsdenkmalschutz liegt, die Überdachung an einer erhaltenswerten Fassade oder an Sichtmauerwerk angebracht werden soll oder historische Außenanlagen wie Gartenmauern, Hofpflaster und Zugangswege berührt werden. Auch eine örtliche Erhaltungssatzung kann die äußere Gestalt regeln. Ob und in welchem Umfang diese Punkte vorliegen, ist grundstücksbezogen zu klären. Die Satelliten-Quelle kann helfen, den Blick auf Gebäude, Freiflächen und Nachbarbebauung zu lenken. Die 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Anfrage an den Bezirk sinnvoll ist</a:t>
            </a:r>
          </a:p>
        </p:txBody>
      </p:sp>
      <p:sp>
        <p:nvSpPr>
          <p:cNvPr id="3" name="Content Placeholder 2"/>
          <p:cNvSpPr>
            <a:spLocks noGrp="1"/>
          </p:cNvSpPr>
          <p:nvPr>
            <p:ph idx="1"/>
          </p:nvPr>
        </p:nvSpPr>
        <p:spPr/>
        <p:txBody>
          <a:bodyPr/>
          <a:lstStyle/>
          <a:p>
            <a:pPr>
              <a:defRPr sz="1800"/>
            </a:pPr>
            <a:r>
              <a:t>rbindliche Aussage erteilt die zuständige Stelle.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 in Berlin zuständig ist</a:t>
            </a:r>
          </a:p>
        </p:txBody>
      </p:sp>
      <p:sp>
        <p:nvSpPr>
          <p:cNvPr id="3" name="Content Placeholder 2"/>
          <p:cNvSpPr>
            <a:spLocks noGrp="1"/>
          </p:cNvSpPr>
          <p:nvPr>
            <p:ph idx="1"/>
          </p:nvPr>
        </p:nvSpPr>
        <p:spPr/>
        <p:txBody>
          <a:bodyPr/>
          <a:lstStyle/>
          <a:p>
            <a:pPr>
              <a:defRPr sz="1800"/>
            </a:pPr>
            <a:r>
              <a:t>In Berlin ist die Senatsverwaltung für Stadtentwicklung, Bauen und Wohnen die landesweit fachlich zuständige oberste Denkmalschutzbehörde. Für Anfragen rund um eine Terrassenüberdachung ist zunächst die untere Denkmalschutzbehörde des Bezirks relevant, in dem das Grundstück liegt. Bei Ensemble- oder Flächendenkmalen können weitere Stellen einzubinden sein, insbesondere das Landesamt für Denkmalpflege. Welche Stelle konkret zu beteiligen ist, hängt vom Einzelfall ab. Es empfiehlt sich daher, vor der Bestellung von Material oder dem Beginn der Arbeiten eine kurze Anfrage mit Objektangaben und einer vorläufigen Beschreibung des Vorhabens zu stel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 in Berlin zuständig ist</a:t>
            </a:r>
          </a:p>
        </p:txBody>
      </p:sp>
      <p:sp>
        <p:nvSpPr>
          <p:cNvPr id="3" name="Content Placeholder 2"/>
          <p:cNvSpPr>
            <a:spLocks noGrp="1"/>
          </p:cNvSpPr>
          <p:nvPr>
            <p:ph idx="1"/>
          </p:nvPr>
        </p:nvSpPr>
        <p:spPr/>
        <p:txBody>
          <a:bodyPr/>
          <a:lstStyle/>
          <a:p>
            <a:pPr>
              <a:defRPr sz="1800"/>
            </a:pPr>
            <a:r>
              <a:t>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die Beurteilung erleichtern</a:t>
            </a:r>
          </a:p>
        </p:txBody>
      </p:sp>
      <p:sp>
        <p:nvSpPr>
          <p:cNvPr id="3" name="Content Placeholder 2"/>
          <p:cNvSpPr>
            <a:spLocks noGrp="1"/>
          </p:cNvSpPr>
          <p:nvPr>
            <p:ph idx="1"/>
          </p:nvPr>
        </p:nvSpPr>
        <p:spPr/>
        <p:txBody>
          <a:bodyPr/>
          <a:lstStyle/>
          <a:p>
            <a:pPr>
              <a:defRPr sz="1800"/>
            </a:pPr>
            <a:r>
              <a:t>Für eine belastbare Anfrage sind üblicherweise ein Lageplan oder eine Lagezeichnung, eine Maßskizze sowie Fotos der betroffenen Fassade und der näheren Umgebung hilfreich. Die Maßskizze sollte Breite, Tiefe und Höhe der Überdachung sowie ihren Abstand zur Hauswand oder zu Grundstücksgrenzen erkennen lassen. Ergänzend können Angaben zu Holztragwerk, Eindeckung, offenen oder geschlossenen Seiten, Anschlusshöhe, Material und Farbe vorgelegt werden. Die Satelliten-Quelle unterstützt vor allem die visuelle Einordnung des Standorts; die genannten Detailpläne und Fotos beschreiben dagegen das Bauvorhaben genauer. Welche Unterlagen tatsächlich verlan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die Beurteilung erleichtern</a:t>
            </a:r>
          </a:p>
        </p:txBody>
      </p:sp>
      <p:sp>
        <p:nvSpPr>
          <p:cNvPr id="3" name="Content Placeholder 2"/>
          <p:cNvSpPr>
            <a:spLocks noGrp="1"/>
          </p:cNvSpPr>
          <p:nvPr>
            <p:ph idx="1"/>
          </p:nvPr>
        </p:nvSpPr>
        <p:spPr/>
        <p:txBody>
          <a:bodyPr/>
          <a:lstStyle/>
          <a:p>
            <a:pPr>
              <a:defRPr sz="1800"/>
            </a:pPr>
            <a:r>
              <a:t>gt werden, hängt vom Vorhaben und vom zuständigen Bezirk ab. Eine frühzeitige Abstimmung verhindert, dass eine optisch passende, aber denkmalrechtlich problematische Ausführung vorbereitet wird.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Denkmalschutz in Berlin bei einer Terrassenüberdachung: Wann er greift und wer zuständig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