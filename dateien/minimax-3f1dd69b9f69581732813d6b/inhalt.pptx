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terrassendach.wordpress.com/2026/10/31/logistik-baustellenzugang-montage-terrassenueberdachung/" TargetMode="External"/><Relationship Id="rId3" Type="http://schemas.openxmlformats.org/officeDocument/2006/relationships/hyperlink" Target="https://holzundhaus.github.io/spreeterrassendach/dateien/minimax-3f1dd69b9f69581732813d6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Logistik und Baustellenzugang bei der Montage einer Terrassenüberdachung · Erklärende Präsentation</a:t>
            </a:r>
          </a:p>
        </p:txBody>
      </p:sp>
      <p:sp>
        <p:nvSpPr>
          <p:cNvPr id="3" name="Content Placeholder 2"/>
          <p:cNvSpPr>
            <a:spLocks noGrp="1"/>
          </p:cNvSpPr>
          <p:nvPr>
            <p:ph idx="1"/>
          </p:nvPr>
        </p:nvSpPr>
        <p:spPr/>
        <p:txBody>
          <a:bodyPr/>
          <a:lstStyle/>
          <a:p>
            <a:r>
              <a:t>Überblick: Eine Terrassenüberdachung aus Holz lässt sich nicht allein nach Fläche, Material und Ausführung beplanen. Entscheidend ist auch, wie das Lieferfahrzeug auf das Grundstück gelangt, wo Material gelagert wird und wie der Weg zur Terrasse beschaffen ist. Wer diese Informationen vorab sammelt, kann ein genaueres Angebot einholen und unterschiedliche Montageaufwände besser nachvollziehen. Der folgende Leitfaden strukturiert die wichtigsten Angaben für eine aussagekräftige Projektanfrage.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Anfahrt und Lieferzeitfenster prüfen</a:t>
            </a:r>
          </a:p>
        </p:txBody>
      </p:sp>
      <p:sp>
        <p:nvSpPr>
          <p:cNvPr id="3" name="Content Placeholder 2"/>
          <p:cNvSpPr>
            <a:spLocks noGrp="1"/>
          </p:cNvSpPr>
          <p:nvPr>
            <p:ph idx="1"/>
          </p:nvPr>
        </p:nvSpPr>
        <p:spPr/>
        <p:txBody>
          <a:bodyPr/>
          <a:lstStyle/>
          <a:p>
            <a:pPr>
              <a:defRPr sz="1800"/>
            </a:pPr>
            <a:r>
              <a:t>Beginnen Sie mit der Frage, ob ein Transporter mit Dachträgern, Stützen und Holzbauteilen die Baustelle erreichen kann. Beschreiben Sie die Straßenbreite, enge Kurven, Durchfahrtsbeschränkungen und mögliche Gewichtsbegrenzungen. Geben Sie außerdem an, wo das Lieferfahrzeug während der Arbeiten halten darf, ohne Rettungswege, Nachbarzufahrten oder andere Zugänge zu blockieren. In Wohngebieten können Zeitfenster für Anlieferungen relevant sein, etwa wenn Lärm oder Verkehr zu bestimmten Uhrzeiten vermieden werden soll. Muss die Zufahrt über ein Nachbargrundstück führen, sollte eine Zustimmung zur Nutzung vorab geklärt werden. Diese Angaben gehör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Anfahrt und Lieferzeitfenster prüfen</a:t>
            </a:r>
          </a:p>
        </p:txBody>
      </p:sp>
      <p:sp>
        <p:nvSpPr>
          <p:cNvPr id="3" name="Content Placeholder 2"/>
          <p:cNvSpPr>
            <a:spLocks noGrp="1"/>
          </p:cNvSpPr>
          <p:nvPr>
            <p:ph idx="1"/>
          </p:nvPr>
        </p:nvSpPr>
        <p:spPr/>
        <p:txBody>
          <a:bodyPr/>
          <a:lstStyle/>
          <a:p>
            <a:pPr>
              <a:defRPr sz="1800"/>
            </a:pPr>
            <a:r>
              <a:t>en in die Anfrage, damit Anfahrtsleistungen nicht unberücksichtigt bleiben.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Stellfläche und Baustelleneinrichtung organisieren</a:t>
            </a:r>
          </a:p>
        </p:txBody>
      </p:sp>
      <p:sp>
        <p:nvSpPr>
          <p:cNvPr id="3" name="Content Placeholder 2"/>
          <p:cNvSpPr>
            <a:spLocks noGrp="1"/>
          </p:cNvSpPr>
          <p:nvPr>
            <p:ph idx="1"/>
          </p:nvPr>
        </p:nvSpPr>
        <p:spPr/>
        <p:txBody>
          <a:bodyPr/>
          <a:lstStyle/>
          <a:p>
            <a:pPr>
              <a:defRPr sz="1800"/>
            </a:pPr>
            <a:r>
              <a:t>Für die Montage wird nicht nur Platz unmittelbar an der Terrasse benötigt, sondern auch eine geeignete Fläche für Holzteile, Verbindungs- und Eindeckungsmaterial sowie Werkzeug. Nennen Sie mögliche Stellflächen wie eine Einfahrt, einen Hof oder einen befestigten Streifen am Haus. Wichtig ist außerdem, ob das Material vor Regen geschützt werden kann, beispielsweise unter einem Vordach, in einer Garage oder auf einer Plane. Beschreiben Sie, ob Strom und Wasser vorhanden sind oder mitgebracht werden müssen. Auch die Sicherung des Arbeitsbereichs kann Teil der Montageplanung sein: Können Kinder, Haustiere oder Zugänge zu Nachbargrundstücken währe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Stellfläche und Baustelleneinrichtung organisieren</a:t>
            </a:r>
          </a:p>
        </p:txBody>
      </p:sp>
      <p:sp>
        <p:nvSpPr>
          <p:cNvPr id="3" name="Content Placeholder 2"/>
          <p:cNvSpPr>
            <a:spLocks noGrp="1"/>
          </p:cNvSpPr>
          <p:nvPr>
            <p:ph idx="1"/>
          </p:nvPr>
        </p:nvSpPr>
        <p:spPr/>
        <p:txBody>
          <a:bodyPr/>
          <a:lstStyle/>
          <a:p>
            <a:pPr>
              <a:defRPr sz="1800"/>
            </a:pPr>
            <a:r>
              <a:t>nd der Arbeiten abgesperrt werden? Eine klare Darstellung dieser Punkte erleichtert die Einschätzung des tatsächlichen Montageumfangs.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Weg zur Terrasse genau beschreiben</a:t>
            </a:r>
          </a:p>
        </p:txBody>
      </p:sp>
      <p:sp>
        <p:nvSpPr>
          <p:cNvPr id="3" name="Content Placeholder 2"/>
          <p:cNvSpPr>
            <a:spLocks noGrp="1"/>
          </p:cNvSpPr>
          <p:nvPr>
            <p:ph idx="1"/>
          </p:nvPr>
        </p:nvSpPr>
        <p:spPr/>
        <p:txBody>
          <a:bodyPr/>
          <a:lstStyle/>
          <a:p>
            <a:pPr>
              <a:defRPr sz="1800"/>
            </a:pPr>
            <a:r>
              <a:t>Der Weg vom Stellplatz bis zur Montagefläche beeinflusst den Aufwand erheblich. Weisen Sie deshalb auf Treppen oder Stufen zwischen Haus und Terrasse hin. Besonders relevant sind enge Gartentore, Durchgänge und Mauern, durch die lange Holzteile transportiert werden müssen. Auch Bepflanzungen und Beete können eine Rolle spielen, wenn sie den Arbeitsbereich einschränken oder geschützt werden müssen. Beschreiben Sie den Zustand des Zugangs so konkret wie möglich, statt lediglich „Zugang über den Garten“ anzugeben. So kann der Anbieter beurteilen, ob zusätzliche Wege, Tragen oder besondere Vorkehrungen erforderlich sind. Die Angaben helfen, Trans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Weg zur Terrasse genau beschreiben</a:t>
            </a:r>
          </a:p>
        </p:txBody>
      </p:sp>
      <p:sp>
        <p:nvSpPr>
          <p:cNvPr id="3" name="Content Placeholder 2"/>
          <p:cNvSpPr>
            <a:spLocks noGrp="1"/>
          </p:cNvSpPr>
          <p:nvPr>
            <p:ph idx="1"/>
          </p:nvPr>
        </p:nvSpPr>
        <p:spPr/>
        <p:txBody>
          <a:bodyPr/>
          <a:lstStyle/>
          <a:p>
            <a:pPr>
              <a:defRPr sz="1800"/>
            </a:pPr>
            <a:r>
              <a:t>port und Montage voneinander zu unterscheiden und machen unterschiedliche Angebote besser vergleichbar.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 Gefälle und Anschlussbedingungen klären</a:t>
            </a:r>
          </a:p>
        </p:txBody>
      </p:sp>
      <p:sp>
        <p:nvSpPr>
          <p:cNvPr id="3" name="Content Placeholder 2"/>
          <p:cNvSpPr>
            <a:spLocks noGrp="1"/>
          </p:cNvSpPr>
          <p:nvPr>
            <p:ph idx="1"/>
          </p:nvPr>
        </p:nvSpPr>
        <p:spPr/>
        <p:txBody>
          <a:bodyPr/>
          <a:lstStyle/>
          <a:p>
            <a:pPr>
              <a:defRPr sz="1800"/>
            </a:pPr>
            <a:r>
              <a:t>Auch die räumliche Situation am geplanten Standort gehört in die Projektanfrage. Geben Sie an, ob die Terrasse auf gleicher Höhe wie der Wohnraum liegt, über Stufen erreichbar ist oder ein Gefälle zur Hauswand aufweist. Steigungen, Höhenversprünge und abweichende Ebenen wirken sich auf Tragwerk, Wandanschluss und Entwässerung aus. Deshalb sollten Höhe und Lasteinleitung von Anfang an beschrieben werden. Ergänzen Sie außerdem die gewünschte Bauform, Maße und den voraussichtlichen Umfang der Überdachung. Die Seite zum passenden Beitrag zeigt, wie logistische Angaben gemeinsam mit diesen technischen Informationen zu einer vollständigen Anfrage 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 Gefälle und Anschlussbedingungen klären</a:t>
            </a:r>
          </a:p>
        </p:txBody>
      </p:sp>
      <p:sp>
        <p:nvSpPr>
          <p:cNvPr id="3" name="Content Placeholder 2"/>
          <p:cNvSpPr>
            <a:spLocks noGrp="1"/>
          </p:cNvSpPr>
          <p:nvPr>
            <p:ph idx="1"/>
          </p:nvPr>
        </p:nvSpPr>
        <p:spPr/>
        <p:txBody>
          <a:bodyPr/>
          <a:lstStyle/>
          <a:p>
            <a:pPr>
              <a:defRPr sz="1800"/>
            </a:pPr>
            <a:r>
              <a:t>usammengeführt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Nachbarflächen und spätere Arbeiten berücksichtigen</a:t>
            </a:r>
          </a:p>
        </p:txBody>
      </p:sp>
      <p:sp>
        <p:nvSpPr>
          <p:cNvPr id="3" name="Content Placeholder 2"/>
          <p:cNvSpPr>
            <a:spLocks noGrp="1"/>
          </p:cNvSpPr>
          <p:nvPr>
            <p:ph idx="1"/>
          </p:nvPr>
        </p:nvSpPr>
        <p:spPr/>
        <p:txBody>
          <a:bodyPr/>
          <a:lstStyle/>
          <a:p>
            <a:pPr>
              <a:defRPr sz="1800"/>
            </a:pPr>
            <a:r>
              <a:t>Bei Montagearbeiten kann die Situation an den Grundstücksgrenzen relevant werden. Hebebühnen, Gerüste oder auskragende Bauteile können in den Luftraum angrenzender Grundstücke hineinragen. Teilen Sie daher mit, ob Arbeiten über die Grenze geplant sind und ob Material kurzzeitig auf einer benachbarten Fläche abgestellt werden darf. Auch die Information über Lärm- und Staubbelastung kann bei der Abstimmung mit Nachbarn hilfreich sein. Schließen Sie die Anfrage mit Angaben zur Entwässerung sowie zu Reinigungs- oder Entsorgungsarbeiten nach Abschluss ab. So werden nicht nur die sichtbaren Bauteile, sondern auch die angrenzenden Arbeitsschritte 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Nachbarflächen und spätere Arbeiten berücksichtigen</a:t>
            </a:r>
          </a:p>
        </p:txBody>
      </p:sp>
      <p:sp>
        <p:nvSpPr>
          <p:cNvPr id="3" name="Content Placeholder 2"/>
          <p:cNvSpPr>
            <a:spLocks noGrp="1"/>
          </p:cNvSpPr>
          <p:nvPr>
            <p:ph idx="1"/>
          </p:nvPr>
        </p:nvSpPr>
        <p:spPr/>
        <p:txBody>
          <a:bodyPr/>
          <a:lstStyle/>
          <a:p>
            <a:pPr>
              <a:defRPr sz="1800"/>
            </a:pPr>
            <a:r>
              <a:t>rücksichtigt. Für eine vertiefte Übersicht zur Anfrageformulierung verweisen wir noch einmal auf den zugehörigen Beitrag.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Logistik und Baustellenzugang bei der Montage einer Terrassenüberdachung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